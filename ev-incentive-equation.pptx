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question" id="{794f3c09-3934-b8fe-eb43-66d1e63df5b6}">
          <p14:sldIdLst>
            <p14:sldId id="256"/>
          </p14:sldIdLst>
        </p14:section>
        <p14:section name="The evidence" id="{b843e342-9c40-688f-b48f-c60d92d861a0}">
          <p14:sldIdLst>
            <p14:sldId id="257"/>
            <p14:sldId id="258"/>
          </p14:sldIdLst>
        </p14:section>
        <p14:section name="The model" id="{59bd5edc-09e9-997c-fefa-f4876356aec8}">
          <p14:sldIdLst>
            <p14:sldId id="259"/>
          </p14:sldIdLst>
        </p14:section>
        <p14:section name="The verdict" id="{bc336506-b4a0-5864-f0b5-8f90ff22cf11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Climate + air</c:v>
                </c:pt>
              </c:strCache>
            </c:strRef>
          </c:tx>
          <c:spPr>
            <a:solidFill>
              <a:srgbClr val="A8ED75"/>
            </a:solidFill>
            <a:effectLst/>
          </c:spPr>
          <c:invertIfNegative val="0"/>
          <c:dLbls>
            <c:numFmt formatCode="[=0]&quot;&quot;;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91C19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Benefits</c:v>
                  </c:pt>
                  <c:pt idx="1">
                    <c:v>Cost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Learning + security</c:v>
                </c:pt>
              </c:strCache>
            </c:strRef>
          </c:tx>
          <c:spPr>
            <a:solidFill>
              <a:srgbClr val="70D9BC"/>
            </a:solidFill>
            <a:effectLst/>
          </c:spPr>
          <c:invertIfNegative val="0"/>
          <c:dLbls>
            <c:numFmt formatCode="[=0]&quot;&quot;;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91C19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Benefits</c:v>
                  </c:pt>
                  <c:pt idx="1">
                    <c:v>Cost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2000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Incentive cost</c:v>
                </c:pt>
              </c:strCache>
            </c:strRef>
          </c:tx>
          <c:spPr>
            <a:solidFill>
              <a:srgbClr val="FFC868"/>
            </a:solidFill>
            <a:effectLst/>
          </c:spPr>
          <c:invertIfNegative val="0"/>
          <c:dLbls>
            <c:numFmt formatCode="[=0]&quot;&quot;;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91C19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Benefits</c:v>
                  </c:pt>
                  <c:pt idx="1">
                    <c:v>Cost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5000</c:v>
                </c:pt>
              </c:numCache>
            </c:numRef>
          </c:val>
        </c:ser>
        <c:dLbls>
          <c:numFmt formatCode="[=0]&quot;&quot;;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91C19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C5B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8C5B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35 seconds. Frame the investment question: public money should buy behavior change, not reward purchases that would happen anyway. Short answer: yes, when support is targeted, temporary and additional.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More than 17 million electric cars were sold globally in 2024, over one in five new cars (IEA). Three lenses: climate value, market friction, and the budget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50 seconds. The test is additionality: count only the cleaner choices the policy actually caused. Value created: emissions, air quality, energy security, spillovers. Value leaked: payments to buyers who would have switched anyway, fiscal and administrative cost, regressive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70 seconds. Ratio = (climate and air benefits + learning and energy-security benefits) / public incentive cost = (4,000 + 2,000) / 5,000 = 1.2x. Walk through a sensitivity: if climate benefits fall to 2,000 the ratio drops to 0.8x and cost exceeds benefits. In the HTML version these inputs are live sliders.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55 seconds. Recommendation: keep support where the market still needs a nudge, targeted, predictable and phasing down. Three design checks: target binding price barriers, compare against charging and grid investment, publish cost per additional EV and sunset underperformers.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Close on the conditional conclusion and open discussion: would you fund the buyer, the charger, or the grid?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237744" cy="237744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201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 INCENTIVE EQUATION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FINANCE / POLICY BRIEF</a:t>
            </a:r>
            <a:endParaRPr lang="en-US" sz="8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960120"/>
            <a:ext cx="5120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1280160"/>
            <a:ext cx="539496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2743200"/>
            <a:ext cx="49377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237744" cy="237744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201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 INCENTIVE EQUATION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FINANCE / POLICY BRIEF</a:t>
            </a:r>
            <a:endParaRPr lang="en-US" sz="8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896112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ea.org/reports/global-ev-outlook-2025/trends-in-electric-car-markets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icct.org/publication/global-LCA-passenger-cars-jul2021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ea.org/reports/global-ev-outlook-2025/trends-in-electric-car-markets" TargetMode="External"/><Relationship Id="rId2" Type="http://schemas.openxmlformats.org/officeDocument/2006/relationships/hyperlink" Target="https://theicct.org/publication/global-LCA-passenger-cars-jul2021/" TargetMode="External"/><Relationship Id="rId3" Type="http://schemas.openxmlformats.org/officeDocument/2006/relationships/hyperlink" Target="https://www.oecd.org/en/publications/distributional-effects-of-environmental-policy_8ca855aa-en.html" TargetMode="External"/><Relationship Id="rId4" Type="http://schemas.openxmlformats.org/officeDocument/2006/relationships/hyperlink" Target="https://www.cbo.gov/publication/58861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4864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INVESTMENT QUESTION</a:t>
            </a:r>
            <a:endParaRPr lang="en-US" sz="9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128016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Are EV incentives </a:t>
            </a:r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worth the cost?</a:t>
            </a:r>
            <a:endParaRPr lang="en-US" sz="4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548640" y="2743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Government support can speed up a cleaner transition. But when does a public dollar create value, and when does it simply subsidize a purchase that would happen anyway?</a:t>
            </a:r>
            <a:endParaRPr lang="en-US" sz="1500" dirty="0"/>
          </a:p>
        </p:txBody>
      </p:sp>
      <p:sp>
        <p:nvSpPr>
          <p:cNvPr id="5" name="Thesis box"/>
          <p:cNvSpPr/>
          <p:nvPr/>
        </p:nvSpPr>
        <p:spPr>
          <a:xfrm>
            <a:off x="548640" y="3794760"/>
            <a:ext cx="5577840" cy="384048"/>
          </a:xfrm>
          <a:prstGeom prst="rect">
            <a:avLst/>
          </a:prstGeom>
          <a:solidFill>
            <a:schemeClr val="accent1">
              <a:alpha val="8000"/>
            </a:schemeClr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Thesis"/>
          <p:cNvSpPr txBox="1"/>
          <p:nvPr/>
        </p:nvSpPr>
        <p:spPr>
          <a:xfrm>
            <a:off x="685800" y="3794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SHORT ANSWER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Yes, when support is targeted, temporary and additional.</a:t>
            </a:r>
            <a:endParaRPr lang="en-US" sz="1200" dirty="0"/>
          </a:p>
        </p:txBody>
      </p:sp>
      <p:sp>
        <p:nvSpPr>
          <p:cNvPr id="7" name="Orbit outer"/>
          <p:cNvSpPr/>
          <p:nvPr/>
        </p:nvSpPr>
        <p:spPr>
          <a:xfrm>
            <a:off x="5989320" y="1051560"/>
            <a:ext cx="2743200" cy="2743200"/>
          </a:xfrm>
          <a:prstGeom prst="ellipse">
            <a:avLst/>
          </a:prstGeom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8" name="Orbit middle"/>
          <p:cNvSpPr/>
          <p:nvPr/>
        </p:nvSpPr>
        <p:spPr>
          <a:xfrm>
            <a:off x="6373368" y="1435608"/>
            <a:ext cx="1975104" cy="1975104"/>
          </a:xfrm>
          <a:prstGeom prst="ellipse">
            <a:avLst/>
          </a:prstGeom>
          <a:ln w="9525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9" name="Orbit inner"/>
          <p:cNvSpPr/>
          <p:nvPr/>
        </p:nvSpPr>
        <p:spPr>
          <a:xfrm>
            <a:off x="6784848" y="1847088"/>
            <a:ext cx="1152144" cy="1152144"/>
          </a:xfrm>
          <a:prstGeom prst="ellipse">
            <a:avLst/>
          </a:prstGeom>
          <a:ln w="9525">
            <a:solidFill>
              <a:schemeClr val="accent3">
                <a:alpha val="38000"/>
              </a:schemeClr>
            </a:solidFill>
            <a:prstDash val="solid"/>
          </a:ln>
        </p:spPr>
      </p:sp>
      <p:sp>
        <p:nvSpPr>
          <p:cNvPr id="10" name="Orbit core"/>
          <p:cNvSpPr/>
          <p:nvPr/>
        </p:nvSpPr>
        <p:spPr>
          <a:xfrm>
            <a:off x="7031736" y="2093976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0" descr="Upward ar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267712"/>
            <a:ext cx="310896" cy="310896"/>
          </a:xfrm>
          <a:prstGeom prst="rect">
            <a:avLst/>
          </a:prstGeom>
        </p:spPr>
      </p:pic>
      <p:sp>
        <p:nvSpPr>
          <p:cNvPr id="12" name="Tag CO2"/>
          <p:cNvSpPr/>
          <p:nvPr/>
        </p:nvSpPr>
        <p:spPr>
          <a:xfrm>
            <a:off x="7680960" y="1097280"/>
            <a:ext cx="420624" cy="4206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bg1">
                <a:alpha val="3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</a:t>
            </a:r>
            <a:pPr algn="ctr" indent="0" marL="0">
              <a:buNone/>
            </a:pPr>
            <a:r>
              <a:rPr lang="en-US" sz="900" baseline="-40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ag dollar"/>
          <p:cNvSpPr/>
          <p:nvPr/>
        </p:nvSpPr>
        <p:spPr>
          <a:xfrm>
            <a:off x="8183880" y="3136392"/>
            <a:ext cx="420624" cy="4206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bg1">
                <a:alpha val="3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00" dirty="0"/>
          </a:p>
        </p:txBody>
      </p:sp>
      <p:sp>
        <p:nvSpPr>
          <p:cNvPr id="14" name="Tag EV"/>
          <p:cNvSpPr/>
          <p:nvPr/>
        </p:nvSpPr>
        <p:spPr>
          <a:xfrm>
            <a:off x="6172200" y="3154680"/>
            <a:ext cx="420624" cy="4206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bg1">
                <a:alpha val="3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THE MARKET SIGNAL</a:t>
            </a:r>
            <a:endParaRPr lang="en-US" sz="9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89611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fast-growing market.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harder policy question.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548640" y="1920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 adoption is scaling. Growth alone, though, does not prove that tax credits are the best use of public money.</a:t>
            </a:r>
            <a:endParaRPr lang="en-US" sz="1400" dirty="0"/>
          </a:p>
        </p:txBody>
      </p:sp>
      <p:sp>
        <p:nvSpPr>
          <p:cNvPr id="5" name="Stat box"/>
          <p:cNvSpPr/>
          <p:nvPr/>
        </p:nvSpPr>
        <p:spPr>
          <a:xfrm>
            <a:off x="6263640" y="896112"/>
            <a:ext cx="2331720" cy="1417320"/>
          </a:xfrm>
          <a:prstGeom prst="rect">
            <a:avLst/>
          </a:prstGeom>
          <a:solidFill>
            <a:schemeClr val="accent1">
              <a:alpha val="7000"/>
            </a:schemeClr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44652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17M+</a:t>
            </a:r>
            <a:endParaRPr lang="en-US" sz="4000" dirty="0"/>
          </a:p>
        </p:txBody>
      </p:sp>
      <p:sp>
        <p:nvSpPr>
          <p:cNvPr id="7" name="Stat label"/>
          <p:cNvSpPr txBox="1"/>
          <p:nvPr/>
        </p:nvSpPr>
        <p:spPr>
          <a:xfrm>
            <a:off x="6446520" y="1627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electric cars sold globally in 2024, over one in five new cars</a:t>
            </a:r>
            <a:endParaRPr lang="en-US" sz="1100" dirty="0"/>
          </a:p>
        </p:txBody>
      </p:sp>
      <p:sp>
        <p:nvSpPr>
          <p:cNvPr id="8" name="Card 01"/>
          <p:cNvSpPr/>
          <p:nvPr/>
        </p:nvSpPr>
        <p:spPr>
          <a:xfrm>
            <a:off x="548640" y="2560320"/>
            <a:ext cx="2560320" cy="1554480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9" name="Card 01 index"/>
          <p:cNvSpPr txBox="1"/>
          <p:nvPr/>
        </p:nvSpPr>
        <p:spPr>
          <a:xfrm>
            <a:off x="731520" y="2697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Card 01 title"/>
          <p:cNvSpPr txBox="1"/>
          <p:nvPr/>
        </p:nvSpPr>
        <p:spPr>
          <a:xfrm>
            <a:off x="731520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value</a:t>
            </a:r>
            <a:endParaRPr lang="en-US" sz="1500" dirty="0"/>
          </a:p>
        </p:txBody>
      </p:sp>
      <p:sp>
        <p:nvSpPr>
          <p:cNvPr id="11" name="Card 01 text"/>
          <p:cNvSpPr txBox="1"/>
          <p:nvPr/>
        </p:nvSpPr>
        <p:spPr>
          <a:xfrm>
            <a:off x="731520" y="32735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EVs generally cut lifetime emissions, especially as electricity gets cleaner.</a:t>
            </a:r>
            <a:endParaRPr lang="en-US" sz="1300" dirty="0"/>
          </a:p>
        </p:txBody>
      </p:sp>
      <p:sp>
        <p:nvSpPr>
          <p:cNvPr id="12" name="Card 02"/>
          <p:cNvSpPr/>
          <p:nvPr/>
        </p:nvSpPr>
        <p:spPr>
          <a:xfrm>
            <a:off x="3291840" y="2560320"/>
            <a:ext cx="2560320" cy="1554480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3" name="Card 02 index"/>
          <p:cNvSpPr txBox="1"/>
          <p:nvPr/>
        </p:nvSpPr>
        <p:spPr>
          <a:xfrm>
            <a:off x="3474720" y="2697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Card 02 title"/>
          <p:cNvSpPr txBox="1"/>
          <p:nvPr/>
        </p:nvSpPr>
        <p:spPr>
          <a:xfrm>
            <a:off x="3474720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friction</a:t>
            </a:r>
            <a:endParaRPr lang="en-US" sz="1500" dirty="0"/>
          </a:p>
        </p:txBody>
      </p:sp>
      <p:sp>
        <p:nvSpPr>
          <p:cNvPr id="15" name="Card 02 text"/>
          <p:cNvSpPr txBox="1"/>
          <p:nvPr/>
        </p:nvSpPr>
        <p:spPr>
          <a:xfrm>
            <a:off x="3474720" y="32735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Upfront prices, charging gaps and learning spillovers can slow adoption.</a:t>
            </a:r>
            <a:endParaRPr lang="en-US" sz="1300" dirty="0"/>
          </a:p>
        </p:txBody>
      </p:sp>
      <p:sp>
        <p:nvSpPr>
          <p:cNvPr id="16" name="Card 03"/>
          <p:cNvSpPr/>
          <p:nvPr/>
        </p:nvSpPr>
        <p:spPr>
          <a:xfrm>
            <a:off x="6035040" y="2560320"/>
            <a:ext cx="2560320" cy="1554480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7" name="Card 03 index"/>
          <p:cNvSpPr txBox="1"/>
          <p:nvPr/>
        </p:nvSpPr>
        <p:spPr>
          <a:xfrm>
            <a:off x="6217920" y="2697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Card 03 title"/>
          <p:cNvSpPr txBox="1"/>
          <p:nvPr/>
        </p:nvSpPr>
        <p:spPr>
          <a:xfrm>
            <a:off x="6217920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trade-off</a:t>
            </a:r>
            <a:endParaRPr lang="en-US" sz="1500" dirty="0"/>
          </a:p>
        </p:txBody>
      </p:sp>
      <p:sp>
        <p:nvSpPr>
          <p:cNvPr id="19" name="Card 03 text"/>
          <p:cNvSpPr txBox="1"/>
          <p:nvPr/>
        </p:nvSpPr>
        <p:spPr>
          <a:xfrm>
            <a:off x="6217920" y="32735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Every incentive dollar has another possible use: transit, grids or deficit reduction.</a:t>
            </a:r>
            <a:endParaRPr lang="en-US" sz="1300" dirty="0"/>
          </a:p>
        </p:txBody>
      </p:sp>
      <p:sp>
        <p:nvSpPr>
          <p:cNvPr id="20" name="Source"/>
          <p:cNvSpPr txBox="1"/>
          <p:nvPr/>
        </p:nvSpPr>
        <p:spPr>
          <a:xfrm>
            <a:off x="548640" y="42793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IEA, Global EV Outlook 2025</a:t>
            </a:r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Sales refer to 2024.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THE ADDITIONALITY TEST</a:t>
            </a:r>
            <a:endParaRPr lang="en-US" sz="9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89611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what the incentive </a:t>
            </a:r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changes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548640" y="1417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key finance question is not “How many EVs were sold?” It is “How many cleaner vehicle choices happened because of the policy?”</a:t>
            </a:r>
            <a:endParaRPr lang="en-US" sz="1400" dirty="0"/>
          </a:p>
        </p:txBody>
      </p:sp>
      <p:sp>
        <p:nvSpPr>
          <p:cNvPr id="5" name="VALUE CREATED card"/>
          <p:cNvSpPr/>
          <p:nvPr/>
        </p:nvSpPr>
        <p:spPr>
          <a:xfrm>
            <a:off x="548640" y="2066544"/>
            <a:ext cx="3931920" cy="1664208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6" name="VALUE CREATED label"/>
          <p:cNvSpPr txBox="1"/>
          <p:nvPr/>
        </p:nvSpPr>
        <p:spPr>
          <a:xfrm>
            <a:off x="731520" y="22219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CREATED</a:t>
            </a:r>
            <a:endParaRPr lang="en-US" sz="900" dirty="0"/>
          </a:p>
        </p:txBody>
      </p:sp>
      <p:sp>
        <p:nvSpPr>
          <p:cNvPr id="7" name="VALUE CREATED title"/>
          <p:cNvSpPr txBox="1"/>
          <p:nvPr/>
        </p:nvSpPr>
        <p:spPr>
          <a:xfrm>
            <a:off x="731520" y="2450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beyond the buyer</a:t>
            </a:r>
            <a:endParaRPr lang="en-US" sz="1500" dirty="0"/>
          </a:p>
        </p:txBody>
      </p:sp>
      <p:sp>
        <p:nvSpPr>
          <p:cNvPr id="8" name="VALUE CREATED text"/>
          <p:cNvSpPr txBox="1"/>
          <p:nvPr/>
        </p:nvSpPr>
        <p:spPr>
          <a:xfrm>
            <a:off x="731520" y="277977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Lower emissions and local air pollution; less exposure to oil-price shocks; potential learning and charging-network spillovers.</a:t>
            </a:r>
            <a:endParaRPr lang="en-US" sz="1300" dirty="0"/>
          </a:p>
        </p:txBody>
      </p:sp>
      <p:sp>
        <p:nvSpPr>
          <p:cNvPr id="9" name="VALUE LEAKED card"/>
          <p:cNvSpPr/>
          <p:nvPr/>
        </p:nvSpPr>
        <p:spPr>
          <a:xfrm>
            <a:off x="4663440" y="2066544"/>
            <a:ext cx="3931920" cy="1664208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0" name="VALUE LEAKED label"/>
          <p:cNvSpPr txBox="1"/>
          <p:nvPr/>
        </p:nvSpPr>
        <p:spPr>
          <a:xfrm>
            <a:off x="4846320" y="22219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LEAKED</a:t>
            </a:r>
            <a:endParaRPr lang="en-US" sz="900" dirty="0"/>
          </a:p>
        </p:txBody>
      </p:sp>
      <p:sp>
        <p:nvSpPr>
          <p:cNvPr id="11" name="VALUE LEAKED title"/>
          <p:cNvSpPr txBox="1"/>
          <p:nvPr/>
        </p:nvSpPr>
        <p:spPr>
          <a:xfrm>
            <a:off x="4846320" y="2450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without a behavior change</a:t>
            </a:r>
            <a:endParaRPr lang="en-US" sz="1500" dirty="0"/>
          </a:p>
        </p:txBody>
      </p:sp>
      <p:sp>
        <p:nvSpPr>
          <p:cNvPr id="12" name="VALUE LEAKED text"/>
          <p:cNvSpPr txBox="1"/>
          <p:nvPr/>
        </p:nvSpPr>
        <p:spPr>
          <a:xfrm>
            <a:off x="4846320" y="277977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Payments to buyers who would have switched anyway, plus fiscal cost, administration and benefits concentrated among households able to buy new cars.</a:t>
            </a:r>
            <a:endParaRPr lang="en-US" sz="1300" dirty="0"/>
          </a:p>
        </p:txBody>
      </p:sp>
      <p:sp>
        <p:nvSpPr>
          <p:cNvPr id="13" name="Thesis box"/>
          <p:cNvSpPr/>
          <p:nvPr/>
        </p:nvSpPr>
        <p:spPr>
          <a:xfrm>
            <a:off x="548640" y="3822192"/>
            <a:ext cx="8046720" cy="384048"/>
          </a:xfrm>
          <a:prstGeom prst="rect">
            <a:avLst/>
          </a:prstGeom>
          <a:solidFill>
            <a:schemeClr val="accent1">
              <a:alpha val="8000"/>
            </a:schemeClr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4" name="Thesis"/>
          <p:cNvSpPr txBox="1"/>
          <p:nvPr/>
        </p:nvSpPr>
        <p:spPr>
          <a:xfrm>
            <a:off x="685800" y="38221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TEST 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Social benefits from additional EV adoption &gt; full public cost</a:t>
            </a:r>
            <a:endParaRPr lang="en-US" sz="1300" dirty="0"/>
          </a:p>
        </p:txBody>
      </p:sp>
      <p:sp>
        <p:nvSpPr>
          <p:cNvPr id="15" name="Source"/>
          <p:cNvSpPr txBox="1"/>
          <p:nvPr/>
        </p:nvSpPr>
        <p:spPr>
          <a:xfrm>
            <a:off x="548640" y="42793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lifecycle emissions: </a:t>
            </a:r>
            <a:pPr indent="0" marL="0">
              <a:buNone/>
            </a:pPr>
            <a:r>
              <a:rPr lang="en-US" sz="800" u="sng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ICCT, 2021</a:t>
            </a:r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Distribution and additionality depend on policy design.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STRESS-TEST THE ECONOMICS</a:t>
            </a:r>
            <a:endParaRPr lang="en-US" sz="9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89611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Does the public dollar </a:t>
            </a:r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pay back?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54864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Illustrative lifetime values per supported vehicle. Change an assumption and the verdict can flip.</a:t>
            </a:r>
            <a:endParaRPr lang="en-US" sz="1400" dirty="0"/>
          </a:p>
        </p:txBody>
      </p:sp>
      <p:sp>
        <p:nvSpPr>
          <p:cNvPr id="5" name="Input 1 label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Climate + air benefits</a:t>
            </a:r>
            <a:endParaRPr lang="en-US" sz="1300" dirty="0"/>
          </a:p>
        </p:txBody>
      </p:sp>
      <p:sp>
        <p:nvSpPr>
          <p:cNvPr id="6" name="Input 1 value"/>
          <p:cNvSpPr txBox="1"/>
          <p:nvPr/>
        </p:nvSpPr>
        <p:spPr>
          <a:xfrm>
            <a:off x="283464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$4,000</a:t>
            </a:r>
            <a:endParaRPr lang="en-US" sz="1100" dirty="0"/>
          </a:p>
        </p:txBody>
      </p:sp>
      <p:sp>
        <p:nvSpPr>
          <p:cNvPr id="7" name="Input 1 track"/>
          <p:cNvSpPr/>
          <p:nvPr/>
        </p:nvSpPr>
        <p:spPr>
          <a:xfrm>
            <a:off x="548640" y="2395728"/>
            <a:ext cx="3200400" cy="45720"/>
          </a:xfrm>
          <a:prstGeom prst="rect">
            <a:avLst/>
          </a:prstGeom>
          <a:solidFill>
            <a:schemeClr val="bg1">
              <a:alpha val="20000"/>
            </a:schemeClr>
          </a:solidFill>
          <a:ln/>
        </p:spPr>
      </p:sp>
      <p:sp>
        <p:nvSpPr>
          <p:cNvPr id="8" name="Input 1 fill"/>
          <p:cNvSpPr/>
          <p:nvPr/>
        </p:nvSpPr>
        <p:spPr>
          <a:xfrm>
            <a:off x="548640" y="2395728"/>
            <a:ext cx="12801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Input 1 knob"/>
          <p:cNvSpPr/>
          <p:nvPr/>
        </p:nvSpPr>
        <p:spPr>
          <a:xfrm>
            <a:off x="1764792" y="2354580"/>
            <a:ext cx="128016" cy="12801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Input 2 label"/>
          <p:cNvSpPr txBox="1"/>
          <p:nvPr/>
        </p:nvSpPr>
        <p:spPr>
          <a:xfrm>
            <a:off x="54864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Learning + energy security</a:t>
            </a:r>
            <a:endParaRPr lang="en-US" sz="1300" dirty="0"/>
          </a:p>
        </p:txBody>
      </p:sp>
      <p:sp>
        <p:nvSpPr>
          <p:cNvPr id="11" name="Input 2 value"/>
          <p:cNvSpPr txBox="1"/>
          <p:nvPr/>
        </p:nvSpPr>
        <p:spPr>
          <a:xfrm>
            <a:off x="2834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$2,000</a:t>
            </a:r>
            <a:endParaRPr lang="en-US" sz="1100" dirty="0"/>
          </a:p>
        </p:txBody>
      </p:sp>
      <p:sp>
        <p:nvSpPr>
          <p:cNvPr id="12" name="Input 2 track"/>
          <p:cNvSpPr/>
          <p:nvPr/>
        </p:nvSpPr>
        <p:spPr>
          <a:xfrm>
            <a:off x="548640" y="3172968"/>
            <a:ext cx="3200400" cy="45720"/>
          </a:xfrm>
          <a:prstGeom prst="rect">
            <a:avLst/>
          </a:prstGeom>
          <a:solidFill>
            <a:schemeClr val="bg1">
              <a:alpha val="20000"/>
            </a:schemeClr>
          </a:solidFill>
          <a:ln/>
        </p:spPr>
      </p:sp>
      <p:sp>
        <p:nvSpPr>
          <p:cNvPr id="13" name="Input 2 fill"/>
          <p:cNvSpPr/>
          <p:nvPr/>
        </p:nvSpPr>
        <p:spPr>
          <a:xfrm>
            <a:off x="548640" y="3172968"/>
            <a:ext cx="10668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Input 2 knob"/>
          <p:cNvSpPr/>
          <p:nvPr/>
        </p:nvSpPr>
        <p:spPr>
          <a:xfrm>
            <a:off x="1551432" y="3131820"/>
            <a:ext cx="128016" cy="12801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Input 3 label"/>
          <p:cNvSpPr txBox="1"/>
          <p:nvPr/>
        </p:nvSpPr>
        <p:spPr>
          <a:xfrm>
            <a:off x="5486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Public incentive cost</a:t>
            </a:r>
            <a:endParaRPr lang="en-US" sz="1300" dirty="0"/>
          </a:p>
        </p:txBody>
      </p:sp>
      <p:sp>
        <p:nvSpPr>
          <p:cNvPr id="16" name="Input 3 value"/>
          <p:cNvSpPr txBox="1"/>
          <p:nvPr/>
        </p:nvSpPr>
        <p:spPr>
          <a:xfrm>
            <a:off x="283464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$5,000</a:t>
            </a:r>
            <a:endParaRPr lang="en-US" sz="1100" dirty="0"/>
          </a:p>
        </p:txBody>
      </p:sp>
      <p:sp>
        <p:nvSpPr>
          <p:cNvPr id="17" name="Input 3 track"/>
          <p:cNvSpPr/>
          <p:nvPr/>
        </p:nvSpPr>
        <p:spPr>
          <a:xfrm>
            <a:off x="548640" y="3950208"/>
            <a:ext cx="3200400" cy="45720"/>
          </a:xfrm>
          <a:prstGeom prst="rect">
            <a:avLst/>
          </a:prstGeom>
          <a:solidFill>
            <a:schemeClr val="bg1">
              <a:alpha val="20000"/>
            </a:schemeClr>
          </a:solidFill>
          <a:ln/>
        </p:spPr>
      </p:sp>
      <p:sp>
        <p:nvSpPr>
          <p:cNvPr id="18" name="Input 3 fill"/>
          <p:cNvSpPr/>
          <p:nvPr/>
        </p:nvSpPr>
        <p:spPr>
          <a:xfrm>
            <a:off x="548640" y="3950208"/>
            <a:ext cx="160020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Input 3 knob"/>
          <p:cNvSpPr/>
          <p:nvPr/>
        </p:nvSpPr>
        <p:spPr>
          <a:xfrm>
            <a:off x="2084832" y="3909060"/>
            <a:ext cx="128016" cy="12801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Model panel"/>
          <p:cNvSpPr/>
          <p:nvPr/>
        </p:nvSpPr>
        <p:spPr>
          <a:xfrm>
            <a:off x="4160520" y="1874520"/>
            <a:ext cx="4434840" cy="2606040"/>
          </a:xfrm>
          <a:prstGeom prst="rect">
            <a:avLst/>
          </a:prstGeom>
          <a:solidFill>
            <a:schemeClr val="tx1">
              <a:alpha val="45000"/>
            </a:schemeClr>
          </a:solidFill>
          <a:ln w="9525">
            <a:solidFill>
              <a:schemeClr val="tx1">
                <a:alpha val="35000"/>
              </a:schemeClr>
            </a:solidFill>
            <a:prstDash val="solid"/>
          </a:ln>
        </p:spPr>
      </p:sp>
      <p:graphicFrame>
        <p:nvGraphicFramePr>
          <p:cNvPr id="21" name="Benefit vs cost chart" descr=""/>
          <p:cNvGraphicFramePr/>
          <p:nvPr/>
        </p:nvGraphicFramePr>
        <p:xfrm>
          <a:off x="4297680" y="1920240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Ratio"/>
          <p:cNvSpPr txBox="1"/>
          <p:nvPr/>
        </p:nvSpPr>
        <p:spPr>
          <a:xfrm>
            <a:off x="434340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1.2×</a:t>
            </a:r>
            <a:endParaRPr lang="en-US" sz="3000" dirty="0"/>
          </a:p>
        </p:txBody>
      </p:sp>
      <p:sp>
        <p:nvSpPr>
          <p:cNvPr id="23" name="Verdict"/>
          <p:cNvSpPr txBox="1"/>
          <p:nvPr/>
        </p:nvSpPr>
        <p:spPr>
          <a:xfrm>
            <a:off x="5440680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Benefits exceed cost in this scenario ($6,000 vs. $5,000)</a:t>
            </a:r>
            <a:endParaRPr lang="en-US" sz="1200" dirty="0"/>
          </a:p>
        </p:txBody>
      </p:sp>
      <p:sp>
        <p:nvSpPr>
          <p:cNvPr id="24" name="Model note"/>
          <p:cNvSpPr txBox="1"/>
          <p:nvPr/>
        </p:nvSpPr>
        <p:spPr>
          <a:xfrm>
            <a:off x="43434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Illustrative, not a measured estimate. Results vary by grid mix, vehicle, buyer behavior and program design.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THE INVESTMENT CASE</a:t>
            </a:r>
            <a:endParaRPr lang="en-US" sz="9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89611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Make incentives earn their place</a:t>
            </a:r>
            <a:endParaRPr lang="en-US" sz="3000" dirty="0"/>
          </a:p>
        </p:txBody>
      </p:sp>
      <p:sp>
        <p:nvSpPr>
          <p:cNvPr id="4" name="Recommendation box"/>
          <p:cNvSpPr/>
          <p:nvPr/>
        </p:nvSpPr>
        <p:spPr>
          <a:xfrm>
            <a:off x="548640" y="1554480"/>
            <a:ext cx="3840480" cy="2057400"/>
          </a:xfrm>
          <a:prstGeom prst="rect">
            <a:avLst/>
          </a:prstGeom>
          <a:solidFill>
            <a:schemeClr val="accent1">
              <a:alpha val="8000"/>
            </a:schemeClr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5" name="Recommendation"/>
          <p:cNvSpPr txBox="1"/>
          <p:nvPr/>
        </p:nvSpPr>
        <p:spPr>
          <a:xfrm>
            <a:off x="777240" y="155448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Keep support where the market still needs a nudge.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Make it targeted, predictable and designed to phase down as adoption and charging mature.</a:t>
            </a:r>
            <a:endParaRPr lang="en-US" sz="1600" dirty="0"/>
          </a:p>
        </p:txBody>
      </p:sp>
      <p:sp>
        <p:nvSpPr>
          <p:cNvPr id="6" name="Check 1 number"/>
          <p:cNvSpPr/>
          <p:nvPr/>
        </p:nvSpPr>
        <p:spPr>
          <a:xfrm>
            <a:off x="4754880" y="1645920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Check 1"/>
          <p:cNvSpPr txBox="1"/>
          <p:nvPr/>
        </p:nvSpPr>
        <p:spPr>
          <a:xfrm>
            <a:off x="5303520" y="1600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Prioritize buyers and segments where price is still a binding barrier.</a:t>
            </a:r>
            <a:endParaRPr lang="en-US" sz="1400" dirty="0"/>
          </a:p>
        </p:txBody>
      </p:sp>
      <p:sp>
        <p:nvSpPr>
          <p:cNvPr id="8" name="Check 2 number"/>
          <p:cNvSpPr/>
          <p:nvPr/>
        </p:nvSpPr>
        <p:spPr>
          <a:xfrm>
            <a:off x="4754880" y="2331720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Check 2"/>
          <p:cNvSpPr txBox="1"/>
          <p:nvPr/>
        </p:nvSpPr>
        <p:spPr>
          <a:xfrm>
            <a:off x="530352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Compare purchase credits with charging infrastructure and grid investment.</a:t>
            </a:r>
            <a:endParaRPr lang="en-US" sz="1400" dirty="0"/>
          </a:p>
        </p:txBody>
      </p:sp>
      <p:sp>
        <p:nvSpPr>
          <p:cNvPr id="10" name="Check 3 number"/>
          <p:cNvSpPr/>
          <p:nvPr/>
        </p:nvSpPr>
        <p:spPr>
          <a:xfrm>
            <a:off x="4754880" y="3017520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Check 3"/>
          <p:cNvSpPr txBox="1"/>
          <p:nvPr/>
        </p:nvSpPr>
        <p:spPr>
          <a:xfrm>
            <a:off x="5303520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Publish cost per additional EV and emissions avoided; sunset what underperforms.</a:t>
            </a:r>
            <a:endParaRPr lang="en-US" sz="1400" dirty="0"/>
          </a:p>
        </p:txBody>
      </p:sp>
      <p:sp>
        <p:nvSpPr>
          <p:cNvPr id="12" name="Closing line"/>
          <p:cNvSpPr txBox="1"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economically justified as a bridge, not a blank cheque.</a:t>
            </a:r>
            <a:endParaRPr lang="en-US" sz="1600" dirty="0"/>
          </a:p>
        </p:txBody>
      </p:sp>
      <p:sp>
        <p:nvSpPr>
          <p:cNvPr id="13" name="Design implication"/>
          <p:cNvSpPr txBox="1"/>
          <p:nvPr/>
        </p:nvSpPr>
        <p:spPr>
          <a:xfrm>
            <a:off x="548640" y="42793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implication: target market failures, measure additionality, revisit as the market changes.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SOURCES &amp; DISCUSSION</a:t>
            </a:r>
            <a:endParaRPr lang="en-US" sz="9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89611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Good policy follows the evidence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548640" y="1417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conclusion is conditional: incentives make economic sense when their incremental social benefits beat their full cost, and better tools are not available.</a:t>
            </a:r>
            <a:endParaRPr lang="en-US" sz="1400" dirty="0"/>
          </a:p>
        </p:txBody>
      </p:sp>
      <p:sp>
        <p:nvSpPr>
          <p:cNvPr id="5" name="Source 1 card"/>
          <p:cNvSpPr/>
          <p:nvPr/>
        </p:nvSpPr>
        <p:spPr>
          <a:xfrm>
            <a:off x="548640" y="2103120"/>
            <a:ext cx="3931920" cy="658368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6" name="Source 1"/>
          <p:cNvSpPr txBox="1"/>
          <p:nvPr/>
        </p:nvSpPr>
        <p:spPr>
          <a:xfrm>
            <a:off x="713232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International Energy Agency — Global EV Outlook 2025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scale and 2024 sales</a:t>
            </a:r>
            <a:endParaRPr lang="en-US" sz="1200" dirty="0"/>
          </a:p>
        </p:txBody>
      </p:sp>
      <p:sp>
        <p:nvSpPr>
          <p:cNvPr id="7" name="Source 2 card"/>
          <p:cNvSpPr/>
          <p:nvPr/>
        </p:nvSpPr>
        <p:spPr>
          <a:xfrm>
            <a:off x="4663440" y="2103120"/>
            <a:ext cx="3931920" cy="658368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8" name="Source 2"/>
          <p:cNvSpPr txBox="1"/>
          <p:nvPr/>
        </p:nvSpPr>
        <p:spPr>
          <a:xfrm>
            <a:off x="4828032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ICCT — Global life-cycle assessment of passenger cars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Passenger-car lifecycle emissions</a:t>
            </a:r>
            <a:endParaRPr lang="en-US" sz="1200" dirty="0"/>
          </a:p>
        </p:txBody>
      </p:sp>
      <p:sp>
        <p:nvSpPr>
          <p:cNvPr id="9" name="Source 3 card"/>
          <p:cNvSpPr/>
          <p:nvPr/>
        </p:nvSpPr>
        <p:spPr>
          <a:xfrm>
            <a:off x="548640" y="2880360"/>
            <a:ext cx="3931920" cy="658368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0" name="Source 3"/>
          <p:cNvSpPr txBox="1"/>
          <p:nvPr/>
        </p:nvSpPr>
        <p:spPr>
          <a:xfrm>
            <a:off x="713232" y="2880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OECD — The distributional effects of environmental policy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 and policy design context</a:t>
            </a:r>
            <a:endParaRPr lang="en-US" sz="1200" dirty="0"/>
          </a:p>
        </p:txBody>
      </p:sp>
      <p:sp>
        <p:nvSpPr>
          <p:cNvPr id="11" name="Source 4 card"/>
          <p:cNvSpPr/>
          <p:nvPr/>
        </p:nvSpPr>
        <p:spPr>
          <a:xfrm>
            <a:off x="4663440" y="2880360"/>
            <a:ext cx="3931920" cy="658368"/>
          </a:xfrm>
          <a:prstGeom prst="rect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2" name="Source 4"/>
          <p:cNvSpPr txBox="1"/>
          <p:nvPr/>
        </p:nvSpPr>
        <p:spPr>
          <a:xfrm>
            <a:off x="4828032" y="2880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U.S. CBO — Effects of tax credits for electric vehicles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Fiscal cost and take-up analysis</a:t>
            </a:r>
            <a:endParaRPr lang="en-US" sz="1200" dirty="0"/>
          </a:p>
        </p:txBody>
      </p:sp>
      <p:sp>
        <p:nvSpPr>
          <p:cNvPr id="13" name="Discussion question"/>
          <p:cNvSpPr txBox="1"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fund the buyer, the charger, or the grid?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8172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 Incentive Equation">
  <a:themeElements>
    <a:clrScheme name="EV Incentive Equation">
      <a:dk1>
        <a:srgbClr val="091C19"/>
      </a:dk1>
      <a:lt1>
        <a:srgbClr val="F4F1E7"/>
      </a:lt1>
      <a:dk2>
        <a:srgbClr val="102A24"/>
      </a:dk2>
      <a:lt2>
        <a:srgbClr val="B8C5B9"/>
      </a:lt2>
      <a:accent1>
        <a:srgbClr val="A8ED75"/>
      </a:accent1>
      <a:accent2>
        <a:srgbClr val="70D9BC"/>
      </a:accent2>
      <a:accent3>
        <a:srgbClr val="FFC868"/>
      </a:accent3>
      <a:accent4>
        <a:srgbClr val="FF907B"/>
      </a:accent4>
      <a:accent5>
        <a:srgbClr val="15382F"/>
      </a:accent5>
      <a:accent6>
        <a:srgbClr val="173A31"/>
      </a:accent6>
      <a:hlink>
        <a:srgbClr val="A8ED75"/>
      </a:hlink>
      <a:folHlink>
        <a:srgbClr val="70D9BC"/>
      </a:folHlink>
    </a:clrScheme>
    <a:fontScheme name="EV Incentive Equ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 Incentive Equation</dc:title>
  <dc:subject>Are EV incentives worth the cost?</dc:subject>
  <dc:creator>PptxGenJS</dc:creator>
  <cp:lastModifiedBy>PptxGenJS</cp:lastModifiedBy>
  <cp:revision>1</cp:revision>
  <dcterms:created xsi:type="dcterms:W3CDTF">2026-10-12T08:56:53Z</dcterms:created>
  <dcterms:modified xsi:type="dcterms:W3CDTF">2026-10-12T08:56:53Z</dcterms:modified>
</cp:coreProperties>
</file>